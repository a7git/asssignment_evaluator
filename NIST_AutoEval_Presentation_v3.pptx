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2743200"/>
            <a:ext cx="3657600" cy="36576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274320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[Your Title Here]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78BFA"/>
                </a:solidFill>
                <a:latin typeface="Segoe UI"/>
              </a:defRPr>
            </a:pPr>
            <a:r>
              <a:t>[Subtitle / Team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[Department · University · Date]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Segoe UI"/>
              </a:defRPr>
            </a:pPr>
            <a:r>
              <a:t>[Add additional info]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Segoe UI"/>
              </a:defRPr>
            </a:pPr>
            <a:r>
              <a:t>The Automated Assignment Evaluation System is a full-stack web platform developed for NIST University that digitizes and automates the entire assignment lifecycle — from creation to grading to feedback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43200"/>
            <a:ext cx="35661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35661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Segoe UI"/>
              </a:defRPr>
            </a:pPr>
            <a:r>
              <a:t>🎯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Eliminate manual grading bottlenecks</a:t>
            </a:r>
            <a:br/>
            <a:r>
              <a:t>by automating evaluation of both</a:t>
            </a:r>
            <a:br/>
            <a:r>
              <a:t>coding and descriptive assignments</a:t>
            </a:r>
            <a:br/>
            <a:r>
              <a:t>using NLP and sandboxed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743200"/>
            <a:ext cx="35661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743200"/>
            <a:ext cx="356616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4899"/>
                </a:solidFill>
                <a:latin typeface="Segoe UI"/>
              </a:defRPr>
            </a:pPr>
            <a:r>
              <a:t>👥 Target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576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Faculty members who create and</a:t>
            </a:r>
            <a:br/>
            <a:r>
              <a:t>manage assignments, and students</a:t>
            </a:r>
            <a:br/>
            <a:r>
              <a:t>who submit work and receive</a:t>
            </a:r>
            <a:br/>
            <a:r>
              <a:t>detailed performance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743200"/>
            <a:ext cx="35661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2743200"/>
            <a:ext cx="35661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Segoe UI"/>
              </a:defRPr>
            </a:pPr>
            <a:r>
              <a:t>⚡ Key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576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Instant, objective, and consistent</a:t>
            </a:r>
            <a:br/>
            <a:r>
              <a:t>grading with built-in peer-to-peer</a:t>
            </a:r>
            <a:br/>
            <a:r>
              <a:t>plagiarism detection — no external</a:t>
            </a:r>
            <a:br/>
            <a:r>
              <a:t>tools or licenses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737360"/>
            <a:ext cx="1097280" cy="10972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  <a:latin typeface="Segoe UI"/>
              </a:defRPr>
            </a:pPr>
            <a:r>
              <a:t>Time-Consuming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576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Faculty spend 3-5 days grading a single</a:t>
            </a:r>
            <a:br/>
            <a:r>
              <a:t>assignment batch of 100+ students.</a:t>
            </a:r>
            <a:br/>
            <a:r>
              <a:t>This delays feedback and slows the</a:t>
            </a:r>
            <a:br/>
            <a:r>
              <a:t>learning loop significantly.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46304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77640" y="1737360"/>
            <a:ext cx="1097280" cy="10972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18288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Segoe UI"/>
              </a:defRPr>
            </a:pPr>
            <a:r>
              <a:t>Subjective &amp; Inconsistent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6576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Different evaluators apply varying</a:t>
            </a:r>
            <a:br/>
            <a:r>
              <a:t>standards to the same submission.</a:t>
            </a:r>
            <a:br/>
            <a:r>
              <a:t>Students receive unfair grades based</a:t>
            </a:r>
            <a:br/>
            <a:r>
              <a:t>on who evaluates their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03720" y="1737360"/>
            <a:ext cx="1097280" cy="10972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8288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Expensive Plagiarism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576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University-licensed plagiarism checkers</a:t>
            </a:r>
            <a:br/>
            <a:r>
              <a:t>cost thousands annually. Smaller</a:t>
            </a:r>
            <a:br/>
            <a:r>
              <a:t>departments often go without any</a:t>
            </a:r>
            <a:br/>
            <a:r>
              <a:t>plagiarism detection at all.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46304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29800" y="1737360"/>
            <a:ext cx="1097280" cy="10972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18288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Zero Data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6576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No centralized analytics exist to track</a:t>
            </a:r>
            <a:br/>
            <a:r>
              <a:t>class-wide performance trends,</a:t>
            </a:r>
            <a:br/>
            <a:r>
              <a:t>identify struggling students, or</a:t>
            </a:r>
            <a:br/>
            <a:r>
              <a:t>measure assignment difficulty.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Segoe UI"/>
              </a:defRPr>
            </a:pPr>
            <a:r>
              <a:t>A single, unified platform that handles the complete assignment lifecycle — from faculty-defined rubrics and test cases, through student file uploads, to automated NLP and code evaluation, peer plagiarism scanning, and detailed grade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09728" cy="59436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Auto-grade coding assignments in Python, Java, and C++ by compiling, executing against faculty-defined test cases, and comparing stdout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79"/>
            <a:ext cx="109728" cy="5943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383279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56431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Evaluate descriptive essays using cosine similarity against reference answers, plus spelling, grammar, and clarity analysis via TextBlob and NLTK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09728" cy="594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7939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Detect plagiarism across all peer submissions using a dual-method approach: N-gram word overlap (60% weight) and TF-IDF cosine similarity (40% weight)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09728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0235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Provide faculty with real-time analytics dashboards showing score distributions, class averages, plagiarism risk heatmaps, and performance trend charts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52160"/>
            <a:ext cx="109728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92531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Give students instant access to detailed feedback reports including rubric breakdowns, strengths, weaknesses, and improvement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Segoe UI"/>
              </a:defRPr>
            </a:pPr>
            <a:r>
              <a:t>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6576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60020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Segoe UI"/>
              </a:defRPr>
            </a:pPr>
            <a:r>
              <a:t>Sandboxed Code Runner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Compiles and executes Python, Java,</a:t>
            </a:r>
            <a:br/>
            <a:r>
              <a:t>C++ in isolated subprocesses with</a:t>
            </a:r>
            <a:br/>
            <a:r>
              <a:t>strict 5-second timeouts to prevent</a:t>
            </a:r>
            <a:br/>
            <a:r>
              <a:t>infinite loops or resource abuse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02336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3657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" y="425196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C4899"/>
                </a:solidFill>
                <a:latin typeface="Segoe UI"/>
              </a:defRPr>
            </a:pPr>
            <a:r>
              <a:t>NLP Essay Grader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Compares student essays against</a:t>
            </a:r>
            <a:br/>
            <a:r>
              <a:t>faculty reference using TF-IDF cosine</a:t>
            </a:r>
            <a:br/>
            <a:r>
              <a:t>similarity. Checks spelling, grammar,</a:t>
            </a:r>
            <a:br/>
            <a:r>
              <a:t>clarity, and text completeness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137160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1371600"/>
            <a:ext cx="3657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97680" y="16002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645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Plagiarism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Peer-to-peer comparison engine using</a:t>
            </a:r>
            <a:br/>
            <a:r>
              <a:t>dual methods: N-gram word overlap</a:t>
            </a:r>
            <a:br/>
            <a:r>
              <a:t>(60%) + TF-IDF cosine similarity (40%)</a:t>
            </a:r>
            <a:br/>
            <a:r>
              <a:t>Clamped to 0-100% 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402336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4023360"/>
            <a:ext cx="36576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97680" y="4251960"/>
            <a:ext cx="594360" cy="5943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Segoe UI"/>
              </a:defRPr>
            </a:pPr>
            <a:r>
              <a:t>Analytics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46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Real-time charts showing score</a:t>
            </a:r>
            <a:br/>
            <a:r>
              <a:t>distribution, class averages, plagiarism</a:t>
            </a:r>
            <a:br/>
            <a:r>
              <a:t>risk levels, and performance trends</a:t>
            </a:r>
            <a:br/>
            <a:r>
              <a:t>via Chart.js visualizations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80" y="137160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80" y="1371600"/>
            <a:ext cx="365760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38160" y="1600200"/>
            <a:ext cx="594360" cy="59436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645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4CC16"/>
                </a:solidFill>
                <a:latin typeface="Segoe UI"/>
              </a:defRPr>
            </a:pPr>
            <a:r>
              <a:t>Batch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One-click processing of all pending</a:t>
            </a:r>
            <a:br/>
            <a:r>
              <a:t>submissions. Faculty can review</a:t>
            </a:r>
            <a:br/>
            <a:r>
              <a:t>auto-generated feedback before</a:t>
            </a:r>
            <a:br/>
            <a:r>
              <a:t>releasing grades to students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4023360"/>
            <a:ext cx="3657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4023360"/>
            <a:ext cx="3657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38160" y="4251960"/>
            <a:ext cx="594360" cy="5943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Role-Based 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846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Separate faculty and student portals.</a:t>
            </a:r>
            <a:br/>
            <a:r>
              <a:t>Students can only view their own</a:t>
            </a:r>
            <a:br/>
            <a:r>
              <a:t>reports. Faculty control grade release</a:t>
            </a:r>
            <a:br/>
            <a:r>
              <a:t>timing and visibility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577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9144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Python 3.x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Core backend language powering all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651760"/>
            <a:ext cx="5577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91440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Segoe UI"/>
              </a:defRPr>
            </a:pPr>
            <a:r>
              <a:t>Flask + Blueprints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Lightweight MVC framework with modular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931920"/>
            <a:ext cx="5577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91440" cy="10515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SQLite + SQLAlchemy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Embedded database with full ORM for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212079"/>
            <a:ext cx="5577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212079"/>
            <a:ext cx="91440" cy="105156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03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4CC16"/>
                </a:solidFill>
                <a:latin typeface="Segoe UI"/>
              </a:defRPr>
            </a:pPr>
            <a:r>
              <a:t>TextBlob / NLTK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NLP libraries for sentiment, spelling, similarity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371600"/>
            <a:ext cx="5577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371600"/>
            <a:ext cx="91440" cy="1051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Flask-Login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Session-based auth with role-based access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651760"/>
            <a:ext cx="5577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651760"/>
            <a:ext cx="91440" cy="10515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Chart.js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Interactive charts for dashboard analytics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931920"/>
            <a:ext cx="5577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931920"/>
            <a:ext cx="91440" cy="10515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Segoe UI"/>
              </a:defRPr>
            </a:pPr>
            <a:r>
              <a:t>HTML5 / CSS3 / 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Responsive UI with custom CSS design 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5212079"/>
            <a:ext cx="5577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5212079"/>
            <a:ext cx="91440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303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Segoe UI"/>
              </a:defRPr>
            </a:pPr>
            <a:r>
              <a:t>Subprocess Module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692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Sandboxed code compilation and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Segoe UI"/>
              </a:defRPr>
            </a:pPr>
            <a:r>
              <a:t>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Segoe UI"/>
              </a:defRPr>
            </a:pPr>
            <a: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8404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Faculty defines assignment</a:t>
            </a:r>
            <a:br/>
            <a:r>
              <a:t>type, rubric weights,</a:t>
            </a:r>
            <a:br/>
            <a:r>
              <a:t>reference solution &amp; test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2A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3154680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C4899"/>
                </a:solidFill>
                <a:latin typeface="Segoe UI"/>
              </a:defRPr>
            </a:pPr>
            <a:r>
              <a:t>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8404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Students upload code files</a:t>
            </a:r>
            <a:br/>
            <a:r>
              <a:t>or essays in PDF/TXT format</a:t>
            </a:r>
            <a:br/>
            <a:r>
              <a:t>via the submission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2A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154680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4CC16"/>
                </a:solidFill>
                <a:latin typeface="Segoe UI"/>
              </a:defRPr>
            </a:pPr>
            <a:r>
              <a:t>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8404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File parser extracts raw text</a:t>
            </a:r>
            <a:br/>
            <a:r>
              <a:t>from uploaded documents</a:t>
            </a:r>
            <a:br/>
            <a:r>
              <a:t>with error-safe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2A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6583679" y="315468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97316"/>
                </a:solidFill>
                <a:latin typeface="Segoe UI"/>
              </a:defRPr>
            </a:pPr>
            <a:r>
              <a:t>GRADE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38404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Code Runner executes against</a:t>
            </a:r>
            <a:br/>
            <a:r>
              <a:t>test cases or NLP Engine</a:t>
            </a:r>
            <a:br/>
            <a:r>
              <a:t>evaluates against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39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2A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8549639" y="315468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38404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Plagiarism engine compares</a:t>
            </a:r>
            <a:br/>
            <a:r>
              <a:t>every submission against</a:t>
            </a:r>
            <a:br/>
            <a:r>
              <a:t>all peers using dual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9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2A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0" y="315468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8404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Final scores aggregated from</a:t>
            </a:r>
            <a:br/>
            <a:r>
              <a:t>rubric weights. Detailed</a:t>
            </a:r>
            <a:br/>
            <a:r>
              <a:t>feedback report generated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5669280"/>
            <a:ext cx="8503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57607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3AED"/>
                </a:solidFill>
                <a:latin typeface="Segoe UI"/>
              </a:defRPr>
            </a:pPr>
            <a:r>
              <a:t>Batch Evaluation: One click processes ALL pending submissions simultaneously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Segoe UI"/>
              </a:defRPr>
            </a:pPr>
            <a:r>
              <a:t>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Segoe UI"/>
              </a:defRPr>
            </a:pPr>
            <a:r>
              <a:t>4 core models connected via SQLAlchemy ORM on SQLite: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828800"/>
            <a:ext cx="2834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0"/>
            <a:ext cx="2834640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id  ·  username  ·  email</a:t>
            </a:r>
            <a:br/>
            <a:r>
              <a:t>password_hash  ·  role</a:t>
            </a:r>
            <a:br/>
            <a:r>
              <a:t>full_name  ·  student_id</a:t>
            </a:r>
            <a:br/>
            <a:br/>
            <a:r>
              <a:t>Roles: faculty | student</a:t>
            </a:r>
            <a:br/>
            <a:r>
              <a:t>Secure bcrypt hashing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828800"/>
            <a:ext cx="2834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828800"/>
            <a:ext cx="28346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46888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id  ·  title  ·  description</a:t>
            </a:r>
            <a:br/>
            <a:r>
              <a:t>type  ·  language  ·  due_date</a:t>
            </a:r>
            <a:br/>
            <a:r>
              <a:t>reference_solution</a:t>
            </a:r>
            <a:br/>
            <a:r>
              <a:t>test_cases (JSON)</a:t>
            </a:r>
            <a:br/>
            <a:br/>
            <a:r>
              <a:t>Types: coding | descriptive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828800"/>
            <a:ext cx="2834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828800"/>
            <a:ext cx="2834640" cy="50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Submission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6888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id  ·  student_id (FK)</a:t>
            </a:r>
            <a:br/>
            <a:r>
              <a:t>assignment_id (FK)</a:t>
            </a:r>
            <a:br/>
            <a:r>
              <a:t>file_path  ·  raw_text</a:t>
            </a:r>
            <a:br/>
            <a:r>
              <a:t>status  ·  submitted_at</a:t>
            </a:r>
            <a:br/>
            <a:br/>
            <a:r>
              <a:t>Status: pending | evaluated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828800"/>
            <a:ext cx="2834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828800"/>
            <a:ext cx="283464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46888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id  ·  submission_id (FK)</a:t>
            </a:r>
            <a:br/>
            <a:r>
              <a:t>score  ·  letter_grade</a:t>
            </a:r>
            <a:br/>
            <a:r>
              <a:t>feedback_json  ·  sub_scores</a:t>
            </a:r>
            <a:br/>
            <a:r>
              <a:t>plagiarism_score</a:t>
            </a:r>
            <a:br/>
            <a:r>
              <a:t>released (boolean)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User ──1:N──▶ Submission ──1:1──▶ Evaluation     │     Assignment ──1:N──▶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Segoe UI"/>
              </a:defRPr>
            </a:pPr>
            <a:r>
              <a:t>Security &amp;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5778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Role-Based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745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Strict route decorators ensure students cannot access faculty</a:t>
            </a:r>
            <a:br/>
            <a:r>
              <a:t>dashboards, evaluation triggers, or peer submission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08960"/>
            <a:ext cx="55778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338328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46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Segoe UI"/>
              </a:defRPr>
            </a:pPr>
            <a:r>
              <a:t>16 MB Upload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118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MAX_CONTENT_LENGTH enforced at the Flask layer with a custom</a:t>
            </a:r>
            <a:br/>
            <a:r>
              <a:t>413 error handler to prevent disk exhaustion attacks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846320"/>
            <a:ext cx="55778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51206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83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5-Second Execution Timeout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492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All student code runs in subprocess with strict timeout.</a:t>
            </a:r>
            <a:br/>
            <a:r>
              <a:t>Infinite loops are killed instantly, returning clean error messages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371600"/>
            <a:ext cx="55778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0" y="164592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Segoe UI"/>
              </a:defRPr>
            </a:pPr>
            <a:r>
              <a:t>Rubric Weight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8745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System validates rubric weights sum to 100%. If not, it auto-</a:t>
            </a:r>
            <a:br/>
            <a:r>
              <a:t>normalizes them during evaluation to prevent score inflation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108960"/>
            <a:ext cx="55778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0" y="3383280"/>
            <a:ext cx="640080" cy="64008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429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246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4CC16"/>
                </a:solidFill>
                <a:latin typeface="Segoe UI"/>
              </a:defRPr>
            </a:pPr>
            <a:r>
              <a:t>Production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6118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RotatingFileHandler writes to instance/app.log with automatic</a:t>
            </a:r>
            <a:br/>
            <a:r>
              <a:t>rotation at 10MB. Tracks all errors, logins, and evaluations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846320"/>
            <a:ext cx="55778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0" y="512064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166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983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Sanitized Error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3492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Compiler errors and runtime exceptions are caught and returned</a:t>
            </a:r>
            <a:br/>
            <a:r>
              <a:t>as helpful feedback — no raw stack traces exposed to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Segoe UI"/>
              </a:defRPr>
            </a:pPr>
            <a:r>
              <a:t>Impact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4CC16"/>
                </a:solidFill>
                <a:latin typeface="Segoe UI"/>
              </a:defRPr>
            </a:pPr>
            <a:r>
              <a:t>Current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✔  Reduces grading time from 3-5 days to under 5 minutes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✔  Ensures 100% consistent, objective evaluation across sections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✔  Eliminates need for expensive third-party plagiarism tools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✔  Students receive instant, detailed feedback upon grade release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✔  Faculty gain data-driven class performance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91440" cy="822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920240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993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Segoe UI"/>
              </a:defRPr>
            </a:pPr>
            <a:r>
              <a:t>🐳  Docker Containers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Ephemeral sandboxes for secure code execution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017520"/>
            <a:ext cx="91440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3017520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090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Segoe UI"/>
              </a:defRPr>
            </a:pPr>
            <a:r>
              <a:t>🧠  LLM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401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Ollama-hosted models for semantic essay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1148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4114800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187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Segoe UI"/>
              </a:defRPr>
            </a:pPr>
            <a:r>
              <a:t>⚡  Async Queues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498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Celery + Redis for non-blocking batch grading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212079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5212079"/>
            <a:ext cx="51206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52852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🔗  LMS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5961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Segoe UI"/>
              </a:defRPr>
            </a:pPr>
            <a:r>
              <a:t>REST API hooks to sync with university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2743200"/>
            <a:ext cx="3657600" cy="36576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828800"/>
            <a:ext cx="393192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The Automated Assignment Evaluation System transforms how NIST University handles academic assessment. By combining sandboxed code execution, NLP-driven essay grading, and peer plagiarism detection into one integrated platform, it delivers faster, fairer, and more insightful grading — empowering both faculty and students to focus on what matters most: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  <a:latin typeface="Segoe UI"/>
              </a:defRPr>
            </a:pPr>
            <a:r>
              <a:t>Thank You  ·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