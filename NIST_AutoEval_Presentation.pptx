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2194560"/>
            <a:ext cx="22860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Automated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6B6D4"/>
                </a:solidFill>
                <a:latin typeface="Segoe UI"/>
              </a:defRPr>
            </a:pPr>
            <a:r>
              <a:t>Evaluation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Segoe UI"/>
              </a:defRPr>
            </a:pPr>
            <a:r>
              <a:t>NIST University  ·  Computer Science Department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Appathon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517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286000"/>
            <a:ext cx="1097280" cy="10972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4231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Segoe UI"/>
              </a:defRPr>
            </a:pPr>
            <a:r>
              <a:t>Time Drain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Grading 100+ submissions manually</a:t>
            </a:r>
            <a:br/>
            <a:r>
              <a:t>takes days, delaying feedback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11680"/>
            <a:ext cx="26517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9080" y="2286000"/>
            <a:ext cx="1097280" cy="10972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4231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Segoe UI"/>
              </a:defRPr>
            </a:pPr>
            <a:r>
              <a:t>Inconsistency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1148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Different TAs grade the same work</a:t>
            </a:r>
            <a:br/>
            <a:r>
              <a:t>with different standards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11680"/>
            <a:ext cx="26517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2286000"/>
            <a:ext cx="1097280" cy="10972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4231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Segoe UI"/>
              </a:defRPr>
            </a:pPr>
            <a:r>
              <a:t>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External plagiarism tools require</a:t>
            </a:r>
            <a:br/>
            <a:r>
              <a:t>expensive annual licenses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011680"/>
            <a:ext cx="265176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29800" y="2286000"/>
            <a:ext cx="1097280" cy="109728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242316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Segoe UI"/>
              </a:defRPr>
            </a:pPr>
            <a:r>
              <a:t>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566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Segoe UI"/>
              </a:defRPr>
            </a:pPr>
            <a:r>
              <a:t>No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1148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Faculty lack analytics on class-wide</a:t>
            </a:r>
            <a:br/>
            <a:r>
              <a:t>performance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748B"/>
                </a:solidFill>
                <a:latin typeface="Segoe UI"/>
              </a:defRPr>
            </a:pPr>
            <a:r>
              <a:t>One platform to automate the entire assignment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6517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6517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🤖  Auto-Grading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NLP for essays</a:t>
            </a:r>
            <a:br/>
            <a:r>
              <a:t>Sandboxed code runner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560320"/>
            <a:ext cx="26517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560320"/>
            <a:ext cx="265176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🔍  Plagiarism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4747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Peer comparison</a:t>
            </a:r>
            <a:br/>
            <a:r>
              <a:t>TF-IDF + N-gram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60320"/>
            <a:ext cx="26517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560320"/>
            <a:ext cx="26517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📊 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747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Score distribution</a:t>
            </a:r>
            <a:br/>
            <a:r>
              <a:t>Trend visualization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2560320"/>
            <a:ext cx="265176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560320"/>
            <a:ext cx="26517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👥  Role-Based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474720"/>
            <a:ext cx="2103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Faculty &amp; student</a:t>
            </a:r>
            <a:br/>
            <a:r>
              <a:t>portals with RBAC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37160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828800"/>
            <a:ext cx="104241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Segoe UI"/>
              </a:defRPr>
            </a:pPr>
            <a:r>
              <a:t>🖥 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HTML5 · CSS3 · Vanilla JS · Chart.js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606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71800"/>
            <a:ext cx="137160" cy="868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2971800"/>
            <a:ext cx="104241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Segoe UI"/>
              </a:defRPr>
            </a:pPr>
            <a:r>
              <a:t>⚙ 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154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Python Flask · Blueprints · Flask-Login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749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137160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05840" y="4114800"/>
            <a:ext cx="104241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🧠 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297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NLP Evaluator · Code Runner · Plagiarism · Rubric Grader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892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13716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05840" y="5257800"/>
            <a:ext cx="104241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59E0B"/>
                </a:solidFill>
                <a:latin typeface="Segoe UI"/>
              </a:defRPr>
            </a:pPr>
            <a:r>
              <a:t>💾 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440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SQLite · SQLAlchemy ORM · 4 core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Evaluation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103120"/>
            <a:ext cx="822960" cy="8229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822960" cy="8229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Segoe UI"/>
              </a:defRPr>
            </a:pPr>
            <a:r>
              <a:t>CREATE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5204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Faculty defines</a:t>
            </a:r>
            <a:br/>
            <a:r>
              <a:t>assignment &amp; rubric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697479" y="210312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97479" y="210312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79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Segoe UI"/>
              </a:defRPr>
            </a:pPr>
            <a:r>
              <a:t>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79" y="35204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Students upload</a:t>
            </a:r>
            <a:br/>
            <a:r>
              <a:t>code or essay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4663440" y="210312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63440" y="210312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Segoe UI"/>
              </a:defRPr>
            </a:pPr>
            <a:r>
              <a:t>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5204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System extracts</a:t>
            </a:r>
            <a:br/>
            <a:r>
              <a:t>text from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6629399" y="210312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399" y="210312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199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Segoe UI"/>
              </a:defRPr>
            </a:pPr>
            <a:r>
              <a:t>GRADE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35204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Code Runner or</a:t>
            </a:r>
            <a:br/>
            <a:r>
              <a:t>NLP grades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595360" y="2103120"/>
            <a:ext cx="822960" cy="82296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95360" y="2103120"/>
            <a:ext cx="822960" cy="82296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3F5E"/>
                </a:solidFill>
                <a:latin typeface="Segoe UI"/>
              </a:defRPr>
            </a:pPr>
            <a:r>
              <a:t>DETECT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35204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Plagiarism engine</a:t>
            </a:r>
            <a:br/>
            <a:r>
              <a:t>scans all peers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240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0" name="Oval 29"/>
          <p:cNvSpPr/>
          <p:nvPr/>
        </p:nvSpPr>
        <p:spPr>
          <a:xfrm>
            <a:off x="10561320" y="2103120"/>
            <a:ext cx="822960" cy="82296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61320" y="2103120"/>
            <a:ext cx="822960" cy="82296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31089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4E3B"/>
                </a:solidFill>
                <a:latin typeface="Segoe UI"/>
              </a:defRPr>
            </a:pPr>
            <a: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35204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Scores compiled</a:t>
            </a:r>
            <a:br/>
            <a:r>
              <a:t>&amp; feedback sent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" y="4846320"/>
            <a:ext cx="100584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One-click batch evaluation processes all pending submissions simultaneously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Plagiarism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3F5E"/>
                </a:solidFill>
                <a:latin typeface="Segoe UI"/>
              </a:defRPr>
            </a:pPr>
            <a:r>
              <a:t>N-Gram Overlap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60%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Compares word sequences between</a:t>
            </a:r>
            <a:br/>
            <a:r>
              <a:t>submissions to detect exact copying</a:t>
            </a:r>
            <a:br/>
            <a:r>
              <a:t>and near-identical passages.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5303520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Segoe UI"/>
              </a:defRPr>
            </a:pPr>
            <a:r>
              <a:t>TF-IDF Cosine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2331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Segoe UI"/>
              </a:defRPr>
            </a:pPr>
            <a:r>
              <a:t>40%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9260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748B"/>
                </a:solidFill>
                <a:latin typeface="Segoe UI"/>
              </a:defRPr>
            </a:pPr>
            <a:r>
              <a:t>Converts text to vectors and measures</a:t>
            </a:r>
            <a:br/>
            <a:r>
              <a:t>angular distance to catch paraphrased</a:t>
            </a:r>
            <a:br/>
            <a:r>
              <a:t>or restructured content.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303520"/>
            <a:ext cx="758952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539496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Similarity = (Overlap × 60) + (Cosine × 0.4)  →  Clamped 0–100%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Security &amp; Robustness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011680"/>
            <a:ext cx="777240" cy="7772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RBAC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Students cannot access faculty routes or peer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3474720"/>
            <a:ext cx="777240" cy="77724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16 MB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Upload cap enforced at app layer to prevent abuse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8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937760"/>
            <a:ext cx="777240" cy="7772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983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5s Timeout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Strict timeout on code execution prevents infinite loops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82880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2011680"/>
            <a:ext cx="777240" cy="7772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65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331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Rubric weights auto-normalized if they don't sum to 100%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9184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347472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52044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4290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Logging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794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Rotating file logger for production error monitoring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754880"/>
            <a:ext cx="54864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937760"/>
            <a:ext cx="777240" cy="77724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983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FFFF"/>
                </a:solidFill>
                <a:latin typeface="Segoe UI"/>
              </a:defRPr>
            </a:pPr>
            <a:r>
              <a:t>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Segoe UI"/>
              </a:defRPr>
            </a:pPr>
            <a:r>
              <a:t>Sanitized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257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No raw stack traces exposed to end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Demo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Pre-seeded with 21 submissions across 15 students: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377440"/>
            <a:ext cx="9418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4414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4414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Perfect solutions awarded full marks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017520"/>
            <a:ext cx="9418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0815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0815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Syntax errors flagged with 0 correctness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657600"/>
            <a:ext cx="9418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7216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7216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Logical errors detected via test case mismatch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297679"/>
            <a:ext cx="9418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3616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36168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Plagiarised essays scored correctly 0–100%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937760"/>
            <a:ext cx="9418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00176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50017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Batch evaluation works in one click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577840"/>
            <a:ext cx="941832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56418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6418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Segoe UI"/>
              </a:defRPr>
            </a:pPr>
            <a:r>
              <a:t>Grade release: faculty review before student access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Project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11880"/>
            <a:ext cx="10789920" cy="457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3401568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3401568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Phase 1</a:t>
            </a:r>
            <a:br/>
            <a:r>
              <a:t>Feb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776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Segoe UI"/>
              </a:defRPr>
            </a:pPr>
            <a:r>
              <a:t>✅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8912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4389120"/>
            <a:ext cx="173736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Core Platform</a:t>
            </a:r>
            <a:br/>
            <a:r>
              <a:t>Flask app, DB models</a:t>
            </a:r>
            <a:br/>
            <a:r>
              <a:t>Auth &amp; role system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34015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26080" y="34015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Phase 2</a:t>
            </a:r>
            <a:br/>
            <a:r>
              <a:t>Mar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9776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✅ DONE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38912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4389120"/>
            <a:ext cx="1737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45262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Evaluation Engine</a:t>
            </a:r>
            <a:br/>
            <a:r>
              <a:t>Code runner, NLP grader</a:t>
            </a:r>
            <a:br/>
            <a:r>
              <a:t>Rubric system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0" y="34015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34015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Phase 3</a:t>
            </a:r>
            <a:br/>
            <a:r>
              <a:t>Apr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9776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✅ DONE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0" y="438912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4389120"/>
            <a:ext cx="17373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5262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Plagiarism &amp; Analytics</a:t>
            </a:r>
            <a:br/>
            <a:r>
              <a:t>TF-IDF engine</a:t>
            </a:r>
            <a:br/>
            <a:r>
              <a:t>Dashboard charts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3401568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66560" y="3401568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Phase 4</a:t>
            </a:r>
            <a:br/>
            <a:r>
              <a:t>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9776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Segoe UI"/>
              </a:defRPr>
            </a:pPr>
            <a:r>
              <a:t>✅ DONE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38912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389120"/>
            <a:ext cx="17373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5262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NIST Branding &amp; QA</a:t>
            </a:r>
            <a:br/>
            <a:r>
              <a:t>UI polish, 21 mock tests</a:t>
            </a:r>
            <a:br/>
            <a:r>
              <a:t>Report generation</a:t>
            </a:r>
          </a:p>
        </p:txBody>
      </p:sp>
      <p:sp>
        <p:nvSpPr>
          <p:cNvPr id="34" name="Oval 33"/>
          <p:cNvSpPr/>
          <p:nvPr/>
        </p:nvSpPr>
        <p:spPr>
          <a:xfrm>
            <a:off x="8686800" y="3401568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86800" y="3401568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Phase 5</a:t>
            </a:r>
            <a:br/>
            <a:r>
              <a:t>Q3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9776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3F5E"/>
                </a:solidFill>
                <a:latin typeface="Segoe UI"/>
              </a:defRPr>
            </a:pPr>
            <a:r>
              <a:t>🔜 NEXT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438912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6720" y="4389120"/>
            <a:ext cx="173736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45262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Docker + LLM</a:t>
            </a:r>
            <a:br/>
            <a:r>
              <a:t>Containerized execution</a:t>
            </a:r>
            <a:br/>
            <a:r>
              <a:t>Semantic feedback</a:t>
            </a:r>
          </a:p>
        </p:txBody>
      </p:sp>
      <p:sp>
        <p:nvSpPr>
          <p:cNvPr id="41" name="Oval 40"/>
          <p:cNvSpPr/>
          <p:nvPr/>
        </p:nvSpPr>
        <p:spPr>
          <a:xfrm>
            <a:off x="10607040" y="3401568"/>
            <a:ext cx="457200" cy="4572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607040" y="3401568"/>
            <a:ext cx="457200" cy="457200"/>
          </a:xfrm>
          <a:prstGeom prst="ellipse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246888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Phase 6</a:t>
            </a:r>
            <a:br/>
            <a:r>
              <a:t>Q4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97763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748B"/>
                </a:solidFill>
                <a:latin typeface="Segoe UI"/>
              </a:defRPr>
            </a:pPr>
            <a:r>
              <a:t>📋 PLAN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438912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966960" y="4389120"/>
            <a:ext cx="173736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04120" y="45262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LMS Integration</a:t>
            </a:r>
            <a:br/>
            <a:r>
              <a:t>Async queues</a:t>
            </a:r>
            <a:br/>
            <a:r>
              <a:t>Production deploy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515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9728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029968"/>
            <a:ext cx="685800" cy="6858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Docker Containers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77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Isolate code execution in ephemeral containers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10515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63240"/>
            <a:ext cx="109728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3172968"/>
            <a:ext cx="685800" cy="685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154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LLM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520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Locally-hosted models for semantic essay 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10515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206240"/>
            <a:ext cx="109728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4315968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434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Async Task Queues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663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Celery + Redis for non-blocking batch evaluation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349240"/>
            <a:ext cx="105156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349240"/>
            <a:ext cx="109728" cy="9144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7280" y="5458968"/>
            <a:ext cx="685800" cy="6858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4864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LMS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806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REST API to sync grades with university systems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457200"/>
            <a:ext cx="2743200" cy="2743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0" y="2194560"/>
            <a:ext cx="39319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Segoe UI"/>
              </a:defRPr>
            </a:pPr>
            <a:r>
              <a:t>NIST University — Automated Assignment Evaluation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6B6D4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