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457200"/>
            <a:ext cx="2743200" cy="27432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1371600"/>
            <a:ext cx="1828800" cy="18288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2194560"/>
            <a:ext cx="228600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[Your Title Here]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  <a:latin typeface="Segoe UI"/>
              </a:defRPr>
            </a:pPr>
            <a:r>
              <a:t>[Subtitle / Team Name / Date]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[Add any additional info here]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293B"/>
                </a:solidFill>
                <a:latin typeface="Segoe UI"/>
              </a:defRPr>
            </a:pPr>
            <a:r>
              <a:t>Automated Assignment Evaluation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Segoe UI"/>
              </a:defRPr>
            </a:pPr>
            <a:r>
              <a:t>A web-based platform designed for NIST University that automates the grading of both coding assignments and descriptive essays. It replaces manual evaluation with intelligent, consistent, and instant feedback.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657600"/>
            <a:ext cx="347472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3657600"/>
            <a:ext cx="347472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6B6D4"/>
                </a:solidFill>
                <a:latin typeface="Segoe UI"/>
              </a:defRPr>
            </a:pPr>
            <a:r>
              <a:t>🎯 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Eliminate manual grading</a:t>
            </a:r>
            <a:br/>
            <a:r>
              <a:t>bottlenecks and ensure</a:t>
            </a:r>
            <a:br/>
            <a:r>
              <a:t>consistent evaluation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3657600"/>
            <a:ext cx="347472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3657600"/>
            <a:ext cx="3474720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3931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B5CF6"/>
                </a:solidFill>
                <a:latin typeface="Segoe UI"/>
              </a:defRPr>
            </a:pPr>
            <a:r>
              <a:t>👥  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448056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Faculty create assignments</a:t>
            </a:r>
            <a:br/>
            <a:r>
              <a:t>Students submit &amp; view</a:t>
            </a:r>
            <a:br/>
            <a:r>
              <a:t>detailed feedback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3657600"/>
            <a:ext cx="347472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79" y="3657600"/>
            <a:ext cx="3474720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9" y="3931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43F5E"/>
                </a:solidFill>
                <a:latin typeface="Segoe UI"/>
              </a:defRPr>
            </a:pPr>
            <a:r>
              <a:t>⚡  Key Benefit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9" y="448056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Instant, objective grading</a:t>
            </a:r>
            <a:br/>
            <a:r>
              <a:t>with built-in plagiarism</a:t>
            </a:r>
            <a:br/>
            <a:r>
              <a:t>detection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6517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34440" y="2103120"/>
            <a:ext cx="1005840" cy="100584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194560"/>
            <a:ext cx="1005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0">
                <a:solidFill>
                  <a:srgbClr val="FFFFFF"/>
                </a:solidFill>
                <a:latin typeface="Segoe UI"/>
              </a:defRPr>
            </a:pPr>
            <a:r>
              <a:t>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E293B"/>
                </a:solidFill>
                <a:latin typeface="Segoe UI"/>
              </a:defRPr>
            </a:pPr>
            <a:r>
              <a:t>Time-Consuming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Grading 100+ submissions</a:t>
            </a:r>
            <a:br/>
            <a:r>
              <a:t>manually takes days,</a:t>
            </a:r>
            <a:br/>
            <a:r>
              <a:t>delaying student feedback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828800"/>
            <a:ext cx="26517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14800" y="2103120"/>
            <a:ext cx="1005840" cy="100584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2194560"/>
            <a:ext cx="1005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0">
                <a:solidFill>
                  <a:srgbClr val="FFFFFF"/>
                </a:solidFill>
                <a:latin typeface="Segoe UI"/>
              </a:defRPr>
            </a:pPr>
            <a: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383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E293B"/>
                </a:solidFill>
                <a:latin typeface="Segoe UI"/>
              </a:defRPr>
            </a:pPr>
            <a:r>
              <a:t>Inconsistency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93192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Different evaluators apply</a:t>
            </a:r>
            <a:br/>
            <a:r>
              <a:t>different standards to</a:t>
            </a:r>
            <a:br/>
            <a:r>
              <a:t>the same 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828800"/>
            <a:ext cx="26517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95160" y="2103120"/>
            <a:ext cx="1005840" cy="100584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5160" y="2194560"/>
            <a:ext cx="1005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0">
                <a:solidFill>
                  <a:srgbClr val="FFFFFF"/>
                </a:solidFill>
                <a:latin typeface="Segoe UI"/>
              </a:defRPr>
            </a:pPr>
            <a:r>
              <a:t>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383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E293B"/>
                </a:solidFill>
                <a:latin typeface="Segoe UI"/>
              </a:defRPr>
            </a:pPr>
            <a:r>
              <a:t>Costly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93192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External plagiarism checkers</a:t>
            </a:r>
            <a:br/>
            <a:r>
              <a:t>require expensive annual</a:t>
            </a:r>
            <a:br/>
            <a:r>
              <a:t>licensing fees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828800"/>
            <a:ext cx="26517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875520" y="2103120"/>
            <a:ext cx="1005840" cy="100584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0" y="2194560"/>
            <a:ext cx="1005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0">
                <a:solidFill>
                  <a:srgbClr val="FFFFFF"/>
                </a:solidFill>
                <a:latin typeface="Segoe UI"/>
              </a:defRPr>
            </a:pPr>
            <a:r>
              <a:t>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3383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E293B"/>
                </a:solidFill>
                <a:latin typeface="Segoe UI"/>
              </a:defRPr>
            </a:pPr>
            <a:r>
              <a:t>No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393192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Faculty lack data-driven</a:t>
            </a:r>
            <a:br/>
            <a:r>
              <a:t>insights into class-wide</a:t>
            </a:r>
            <a:br/>
            <a:r>
              <a:t>performance trends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4748B"/>
                </a:solidFill>
                <a:latin typeface="Segoe UI"/>
              </a:defRPr>
            </a:pPr>
            <a:r>
              <a:t>A single, unified platform that handles the entire assignment lifecycle — from creation by faculty, through student submission, to automated evaluation, plagiarism detection, and grade reporting with detailed feedback.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926080"/>
            <a:ext cx="109728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926080"/>
            <a:ext cx="1042416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999232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Segoe UI"/>
              </a:defRPr>
            </a:pPr>
            <a:r>
              <a:t>Auto-grade coding assignments via sandboxed code execution with test cases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57600"/>
            <a:ext cx="109728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5840" y="3657600"/>
            <a:ext cx="1042416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730752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Segoe UI"/>
              </a:defRPr>
            </a:pPr>
            <a:r>
              <a:t>Evaluate descriptive essays using NLP against faculty reference answers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389120"/>
            <a:ext cx="109728" cy="5029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5840" y="4389120"/>
            <a:ext cx="1042416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4462272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Segoe UI"/>
              </a:defRPr>
            </a:pPr>
            <a:r>
              <a:t>Detect plagiarism across all peer submissions using TF-IDF &amp; N-gram analysis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120640"/>
            <a:ext cx="109728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5840" y="5120640"/>
            <a:ext cx="1042416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5193792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Segoe UI"/>
              </a:defRPr>
            </a:pPr>
            <a:r>
              <a:t>Provide faculty dashboards with score distribution and trend analytics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852160"/>
            <a:ext cx="109728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05840" y="5852160"/>
            <a:ext cx="1042416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5925312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Segoe UI"/>
              </a:defRPr>
            </a:pPr>
            <a:r>
              <a:t>Give students instant access to detailed feedback reports upon grade release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Core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5661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356616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2103120"/>
            <a:ext cx="640080" cy="6400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Segoe UI"/>
              </a:defRPr>
            </a:pPr>
            <a:r>
              <a:t>Code Runner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5146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Compiles &amp; runs Python, Java,</a:t>
            </a:r>
            <a:br/>
            <a:r>
              <a:t>C++ with strict 5s timeout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06240"/>
            <a:ext cx="35661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4206240"/>
            <a:ext cx="3566160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4480560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52628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480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Segoe UI"/>
              </a:defRPr>
            </a:pPr>
            <a:r>
              <a:t>NLP Grader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8920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Cosine similarity, spelling,</a:t>
            </a:r>
            <a:br/>
            <a:r>
              <a:t>grammar &amp; clarity analysis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828800"/>
            <a:ext cx="35661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828800"/>
            <a:ext cx="3566160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26280" y="2103120"/>
            <a:ext cx="640080" cy="6400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214884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Segoe UI"/>
              </a:defRPr>
            </a:pPr>
            <a:r>
              <a:t>Plagiarism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25146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Peer-to-peer TF-IDF &amp;</a:t>
            </a:r>
            <a:br/>
            <a:r>
              <a:t>N-gram overlap detection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4206240"/>
            <a:ext cx="35661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4206240"/>
            <a:ext cx="356616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26280" y="448056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452628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4480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Segoe UI"/>
              </a:defRPr>
            </a:pPr>
            <a:r>
              <a:t>Analytics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48920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Score distribution, plagiarism</a:t>
            </a:r>
            <a:br/>
            <a:r>
              <a:t>trends &amp; class insights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1828800"/>
            <a:ext cx="35661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60" y="1828800"/>
            <a:ext cx="356616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66760" y="210312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60" y="214884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Segoe UI"/>
              </a:defRPr>
            </a:pPr>
            <a:r>
              <a:t>Batch Evaluation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25146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One-click grading of all</a:t>
            </a:r>
            <a:br/>
            <a:r>
              <a:t>pending submissions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4206240"/>
            <a:ext cx="35661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38160" y="4206240"/>
            <a:ext cx="3566160" cy="64008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366760" y="4480560"/>
            <a:ext cx="640080" cy="640080"/>
          </a:xfrm>
          <a:prstGeom prst="ellipse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66760" y="452628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20" y="4480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Segoe UI"/>
              </a:defRPr>
            </a:pPr>
            <a:r>
              <a:t>Grade Release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9720" y="48920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Faculty review before</a:t>
            </a:r>
            <a:br/>
            <a:r>
              <a:t>students see results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Tech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39496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91440" cy="868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019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Segoe UI"/>
              </a:defRPr>
            </a:pPr>
            <a:r>
              <a:t>Python 3.x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Core programming language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26080"/>
            <a:ext cx="539496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91440" cy="8686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9992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  <a:latin typeface="Segoe UI"/>
              </a:defRPr>
            </a:pPr>
            <a:r>
              <a:t>Flask + Blueprints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Lightweight MVC web framework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023360"/>
            <a:ext cx="539496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023360"/>
            <a:ext cx="91440" cy="86868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965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43F5E"/>
                </a:solidFill>
                <a:latin typeface="Segoe UI"/>
              </a:defRPr>
            </a:pPr>
            <a:r>
              <a:t>SQLite + SQLAlchemy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Database &amp; ORM layer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120640"/>
            <a:ext cx="539496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5120640"/>
            <a:ext cx="91440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1937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TextBlob / NLTK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5321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NLP processing libraries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828800"/>
            <a:ext cx="539496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828800"/>
            <a:ext cx="91440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9019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Segoe UI"/>
              </a:defRPr>
            </a:pPr>
            <a:r>
              <a:t>Flask-Login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2402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Session-based authentication &amp; RBAC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926080"/>
            <a:ext cx="539496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2926080"/>
            <a:ext cx="91440" cy="86868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29992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4E3B"/>
                </a:solidFill>
                <a:latin typeface="Segoe UI"/>
              </a:defRPr>
            </a:pPr>
            <a:r>
              <a:t>Chart.js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3375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Interactive dashboard analytics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023360"/>
            <a:ext cx="539496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023360"/>
            <a:ext cx="91440" cy="868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0965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Segoe UI"/>
              </a:defRPr>
            </a:pPr>
            <a:r>
              <a:t>HTML5 / CSS3 / JS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4348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Responsive frontend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5120640"/>
            <a:ext cx="539496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5120640"/>
            <a:ext cx="91440" cy="8686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51937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  <a:latin typeface="Segoe UI"/>
              </a:defRPr>
            </a:pPr>
            <a:r>
              <a:t>Subprocess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5321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Sandboxed code execution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System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611880"/>
            <a:ext cx="10789920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3383280"/>
            <a:ext cx="502920" cy="5029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4688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CREATE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11480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Faculty defines</a:t>
            </a:r>
            <a:br/>
            <a:r>
              <a:t>assignment &amp; rubric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474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BD5E1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2788919" y="338328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79" y="24688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B5CF6"/>
                </a:solidFill>
                <a:latin typeface="Segoe UI"/>
              </a:defRPr>
            </a:pPr>
            <a:r>
              <a:t>SUBMIT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79" y="411480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Students upload</a:t>
            </a:r>
            <a:br/>
            <a:r>
              <a:t>code or essay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59" y="3474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BD5E1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4754880" y="338328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4688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PARSE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411480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System extracts</a:t>
            </a:r>
            <a:br/>
            <a:r>
              <a:t>text from 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3474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BD5E1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6720839" y="3383280"/>
            <a:ext cx="502920" cy="50292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199" y="24688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43F5E"/>
                </a:solidFill>
                <a:latin typeface="Segoe UI"/>
              </a:defRPr>
            </a:pPr>
            <a:r>
              <a:t>GRADE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199" y="411480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Code Runner / NLP</a:t>
            </a:r>
            <a:br/>
            <a:r>
              <a:t>Engine evaluates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3474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BD5E1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0" y="338328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4688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DETECT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411480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Plagiarism engine</a:t>
            </a:r>
            <a:br/>
            <a:r>
              <a:t>compares peers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3474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BD5E1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6" name="Oval 25"/>
          <p:cNvSpPr/>
          <p:nvPr/>
        </p:nvSpPr>
        <p:spPr>
          <a:xfrm>
            <a:off x="10652760" y="3383280"/>
            <a:ext cx="502920" cy="502920"/>
          </a:xfrm>
          <a:prstGeom prst="ellipse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04120" y="24688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4E3B"/>
                </a:solidFill>
                <a:latin typeface="Segoe UI"/>
              </a:defRPr>
            </a:pPr>
            <a:r>
              <a:t>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04120" y="411480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Scores compiled</a:t>
            </a:r>
            <a:br/>
            <a:r>
              <a:t>feedback sent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28800" y="5303520"/>
            <a:ext cx="85039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03120" y="5394960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One-click batch evaluation processes all pending submissions simultaneously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Database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Segoe UI"/>
              </a:defRPr>
            </a:pPr>
            <a:r>
              <a:t>SQLite database with 4 core models connected via SQLAlchemy ORM: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265176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2651760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id · username · email</a:t>
            </a:r>
            <a:br/>
            <a:r>
              <a:t>password_hash · role</a:t>
            </a:r>
            <a:br/>
            <a:r>
              <a:t>full_name · student_id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2286000"/>
            <a:ext cx="265176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2286000"/>
            <a:ext cx="2651760" cy="5486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377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Assignment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01752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id · title · description</a:t>
            </a:r>
            <a:br/>
            <a:r>
              <a:t>type · language · due_date</a:t>
            </a:r>
            <a:br/>
            <a:r>
              <a:t>reference_solution · test_cases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286000"/>
            <a:ext cx="265176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286000"/>
            <a:ext cx="2651760" cy="54864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377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Submission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01752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id · student_id · assignment_id</a:t>
            </a:r>
            <a:br/>
            <a:r>
              <a:t>file_path · raw_text</a:t>
            </a:r>
            <a:br/>
            <a:r>
              <a:t>status · submitted_at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2286000"/>
            <a:ext cx="265176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2286000"/>
            <a:ext cx="265176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2377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Evaluation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301752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id · submission_id · score</a:t>
            </a:r>
            <a:br/>
            <a:r>
              <a:t>letter_grade · feedback_json</a:t>
            </a:r>
            <a:br/>
            <a:r>
              <a:t>plagiarism_score · released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User ──1:N──▶ Submission ──1:1──▶ Evaluation     |     Assignment ──1:N──▶ Submission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Security &amp; Integrity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4864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2011680"/>
            <a:ext cx="777240" cy="7772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777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965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Segoe UI"/>
              </a:defRPr>
            </a:pPr>
            <a:r>
              <a:t>Role-Based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331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Students cannot access faculty dashboards or peer reports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91840"/>
            <a:ext cx="54864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3474720"/>
            <a:ext cx="777240" cy="77724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777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429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Segoe UI"/>
              </a:defRPr>
            </a:pPr>
            <a:r>
              <a:t>16 MB Upload Limit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794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Enforced at application layer to prevent resource abuse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754880"/>
            <a:ext cx="54864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4937760"/>
            <a:ext cx="777240" cy="7772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777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892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Segoe UI"/>
              </a:defRPr>
            </a:pPr>
            <a:r>
              <a:t>5-Second Timeout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257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All code execution strictly time-boxed against infinite loops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828800"/>
            <a:ext cx="54864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0" y="2011680"/>
            <a:ext cx="777240" cy="7772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057400"/>
            <a:ext cx="777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1965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Segoe UI"/>
              </a:defRPr>
            </a:pPr>
            <a:r>
              <a:t>Rubric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2331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Weights auto-normalized if they don't sum to 100%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291840"/>
            <a:ext cx="54864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0800" y="3474720"/>
            <a:ext cx="777240" cy="7772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520440"/>
            <a:ext cx="777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429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Segoe UI"/>
              </a:defRPr>
            </a:pPr>
            <a:r>
              <a:t>Rotating Logger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794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Production-grade error monitoring via app.log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754880"/>
            <a:ext cx="54864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00800" y="4937760"/>
            <a:ext cx="777240" cy="777240"/>
          </a:xfrm>
          <a:prstGeom prst="ellipse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983480"/>
            <a:ext cx="777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4892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Segoe UI"/>
              </a:defRPr>
            </a:pPr>
            <a:r>
              <a:t>Sanitized Errors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5257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No raw stack traces exposed to end users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Impact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Segoe UI"/>
              </a:defRPr>
            </a:pPr>
            <a:r>
              <a:t>Current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✔  Reduces grading time from days to minutes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✔  Ensures consistent, objective evaluation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✔  Built-in plagiarism detection (zero extra cost)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✔  Students get instant, detailed feedback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Segoe UI"/>
              </a:defRPr>
            </a:pPr>
            <a:r>
              <a:t>Future Scope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286000"/>
            <a:ext cx="91440" cy="7315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0" y="2286000"/>
            <a:ext cx="48463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24231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🐳  Docker containerized code execution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291840"/>
            <a:ext cx="91440" cy="7315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0" y="3291840"/>
            <a:ext cx="48463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34290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🧠  LLM-powered semantic essay feedback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4297680"/>
            <a:ext cx="91440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0" y="4297680"/>
            <a:ext cx="48463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44348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Segoe UI"/>
              </a:defRPr>
            </a:pPr>
            <a:r>
              <a:t>⚡  Celery + Redis async task queues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5303520"/>
            <a:ext cx="91440" cy="7315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0" y="5303520"/>
            <a:ext cx="48463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54406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🔗  REST API for LMS integration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457200"/>
            <a:ext cx="2743200" cy="27432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1371600"/>
            <a:ext cx="1828800" cy="18288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1828800"/>
            <a:ext cx="393192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004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CBD5E1"/>
                </a:solidFill>
                <a:latin typeface="Segoe UI"/>
              </a:defRPr>
            </a:pPr>
            <a:r>
              <a:t>The Automated Assignment Evaluation System provides NIST University with a robust, scalable solution for modern educational assessment. By combining sandboxed code execution, NLP-driven grading, and peer plagiarism detection in one branded platform, it transforms the grading experience for both faculty and students.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6B6D4"/>
                </a:solidFill>
                <a:latin typeface="Segoe UI"/>
              </a:defRPr>
            </a:pPr>
            <a:r>
              <a:t>Thank You  ·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